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A44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A44"/>
                </a:solidFill>
                <a:latin typeface="Calibri"/>
              </a:rPr>
              <a:t>Operations as input grows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Merge Sort  n log n</c:v>
                </c:pt>
              </c:strCache>
            </c:strRef>
          </c:tx>
          <c:spPr>
            <a:solidFill>
              <a:srgbClr val="14B8A6"/>
            </a:solidFill>
            <a:ln w="38100" cap="flat">
              <a:solidFill>
                <a:srgbClr val="14B8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4B8A6"/>
              </a:solidFill>
              <a:ln w="9525" cap="flat">
                <a:solidFill>
                  <a:srgbClr val="14B8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n=2</c:v>
                  </c:pt>
                  <c:pt idx="1">
                    <c:v>n=4</c:v>
                  </c:pt>
                  <c:pt idx="2">
                    <c:v>n=8</c:v>
                  </c:pt>
                  <c:pt idx="3">
                    <c:v>n=16</c:v>
                  </c:pt>
                  <c:pt idx="4">
                    <c:v>n=32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8</c:v>
                </c:pt>
                <c:pt idx="2">
                  <c:v>24</c:v>
                </c:pt>
                <c:pt idx="3">
                  <c:v>64</c:v>
                </c:pt>
                <c:pt idx="4">
                  <c:v>160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Quadratic sorts  n²</c:v>
                </c:pt>
              </c:strCache>
            </c:strRef>
          </c:tx>
          <c:spPr>
            <a:solidFill>
              <a:srgbClr val="F59E0B"/>
            </a:solidFill>
            <a:ln w="381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n=2</c:v>
                  </c:pt>
                  <c:pt idx="1">
                    <c:v>n=4</c:v>
                  </c:pt>
                  <c:pt idx="2">
                    <c:v>n=8</c:v>
                  </c:pt>
                  <c:pt idx="3">
                    <c:v>n=16</c:v>
                  </c:pt>
                  <c:pt idx="4">
                    <c:v>n=32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</c:v>
                </c:pt>
                <c:pt idx="1">
                  <c:v>16</c:v>
                </c:pt>
                <c:pt idx="2">
                  <c:v>64</c:v>
                </c:pt>
                <c:pt idx="3">
                  <c:v>256</c:v>
                </c:pt>
                <c:pt idx="4">
                  <c:v>1024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773168"/>
            <a:ext cx="822960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Mohiddin Khan  |  PRN: 25070521250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023360" y="48188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Claude (Anthropic AI)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1888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1888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6400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ANALYSIS OF ALGORITHMS  |  LAB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1887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03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Divide and Conquer Sorting Algorithm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2926080"/>
            <a:ext cx="274320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108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383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Mohiddin Khan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840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PRN: 25070521250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572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Claude (Anthropic AI)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3931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43000"/>
            <a:ext cx="731520" cy="73152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1430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039112"/>
            <a:ext cx="3931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39112"/>
            <a:ext cx="731520" cy="7315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039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03911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and Conquer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2935224"/>
            <a:ext cx="3931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935224"/>
            <a:ext cx="731520" cy="73152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93522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293522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Merge Procedure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3831336"/>
            <a:ext cx="3931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831336"/>
            <a:ext cx="731520" cy="7315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8313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383133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(Pseudocode)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709160" y="1143000"/>
            <a:ext cx="3931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1143000"/>
            <a:ext cx="731520" cy="73152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09160" y="1143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5120640" y="11430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4709160" y="2039112"/>
            <a:ext cx="3931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2039112"/>
            <a:ext cx="731520" cy="7315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09160" y="2039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5120640" y="203911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Analysis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4709160" y="2935224"/>
            <a:ext cx="3931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2935224"/>
            <a:ext cx="731520" cy="73152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09160" y="293522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5120640" y="293522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Other Sorts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4709160" y="3831336"/>
            <a:ext cx="3931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3831336"/>
            <a:ext cx="731520" cy="7315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709160" y="38313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200" dirty="0"/>
          </a:p>
        </p:txBody>
      </p:sp>
      <p:sp>
        <p:nvSpPr>
          <p:cNvPr id="34" name="Text 32"/>
          <p:cNvSpPr txBox="1"/>
          <p:nvPr/>
        </p:nvSpPr>
        <p:spPr>
          <a:xfrm>
            <a:off x="5120640" y="383133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Pros, Cons and Applications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1888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comparison-based sorting algorithm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by John von Neumann in 1945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the Divide and Conquer paradigm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Recursively splits the array, sorts the halves, and merges them back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performance on every input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9280" y="1188720"/>
            <a:ext cx="2926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1188720"/>
            <a:ext cx="292608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852160" y="1325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1737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 all cases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0" y="2286000"/>
            <a:ext cx="2926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0" y="2286000"/>
            <a:ext cx="29260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52160" y="2423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2834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keys keep order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0" y="3383280"/>
            <a:ext cx="2926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0" y="3383280"/>
            <a:ext cx="292608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52160" y="3520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5852160" y="3931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space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1888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and Conquer Strategy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260604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63040"/>
            <a:ext cx="548640" cy="548640"/>
          </a:xfrm>
          <a:prstGeom prst="ellipse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2402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problem into smaller sub-problems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3200400"/>
            <a:ext cx="21488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337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Merge Sort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array into two halves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246120" y="1188720"/>
            <a:ext cx="26060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188720"/>
            <a:ext cx="26060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1463040"/>
            <a:ext cx="548640" cy="548640"/>
          </a:xfrm>
          <a:prstGeom prst="ellipse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7472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160520" y="1463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Conquer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22402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each sub-problem recursively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474720" y="3200400"/>
            <a:ext cx="21488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74720" y="3337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Merge Sort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474720" y="3611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Recursively sort each half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035040" y="1188720"/>
            <a:ext cx="26060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0" y="1188720"/>
            <a:ext cx="260604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63640" y="1463040"/>
            <a:ext cx="548640" cy="548640"/>
          </a:xfrm>
          <a:prstGeom prst="ellipse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636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6949440" y="1463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6263640" y="22402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sub-solutions into one answer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63640" y="3200400"/>
            <a:ext cx="21488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63640" y="3337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Merge Sort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263640" y="3611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the two sorted halves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1888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Merge Procedure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list 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57200" cy="411480"/>
          </a:xfrm>
          <a:prstGeom prst="rect">
            <a:avLst/>
          </a:prstGeom>
          <a:solidFill>
            <a:srgbClr val="FDE68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51560" y="1371600"/>
            <a:ext cx="457200" cy="411480"/>
          </a:xfrm>
          <a:prstGeom prst="rect">
            <a:avLst/>
          </a:prstGeom>
          <a:solidFill>
            <a:srgbClr val="A7F3D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13716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194560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list B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194560" y="1371600"/>
            <a:ext cx="457200" cy="411480"/>
          </a:xfrm>
          <a:prstGeom prst="rect">
            <a:avLst/>
          </a:prstGeom>
          <a:solidFill>
            <a:srgbClr val="FDE68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94560" y="13716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697480" y="1371600"/>
            <a:ext cx="457200" cy="411480"/>
          </a:xfrm>
          <a:prstGeom prst="rect">
            <a:avLst/>
          </a:prstGeom>
          <a:solidFill>
            <a:srgbClr val="A7F3D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97480" y="13716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array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377440"/>
            <a:ext cx="45720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2377440"/>
            <a:ext cx="45720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54480" y="2377440"/>
            <a:ext cx="45720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57400" y="2377440"/>
            <a:ext cx="45720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017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fronts: 27 vs 3  →  place 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937760" y="1097280"/>
            <a:ext cx="3749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1097280"/>
            <a:ext cx="374904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166360" y="1280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166360" y="1737360"/>
            <a:ext cx="3383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one pointer at the front of each sorted list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smaller front element to the output and advance that pointer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one list is empty, copy the rest of the other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element is visited once, so merging n elements costs O(n)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840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[3, 27, 38, 43]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1888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(Pseudocode)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120640" cy="3383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MERGE-SORT(A, left, right)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left &lt; right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mid = (left + right) / 2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MERGE-SORT(A, left, mid)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MERGE-SORT(A, mid + 1, right)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MERGE(A, left, mid, right)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06440" y="1097280"/>
            <a:ext cx="2880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06440" y="1097280"/>
            <a:ext cx="288036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0" y="12070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943600" y="14630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≥ right means one element: already sorted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06440" y="1965960"/>
            <a:ext cx="2880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06440" y="1965960"/>
            <a:ext cx="28803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0" y="20756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23317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midpoint of the range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06440" y="2834640"/>
            <a:ext cx="2880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2834640"/>
            <a:ext cx="288036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0" y="29443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Conquer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0" y="32004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left and right halves recursively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06440" y="3703320"/>
            <a:ext cx="2880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06440" y="3703320"/>
            <a:ext cx="28803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0" y="38130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40690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joins the two sorted halves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1888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Divide Phase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9544" y="1097280"/>
            <a:ext cx="365760" cy="365760"/>
          </a:xfrm>
          <a:prstGeom prst="rect">
            <a:avLst/>
          </a:prstGeom>
          <a:solidFill>
            <a:srgbClr val="E5E7EB"/>
          </a:solidFill>
          <a:ln w="15875">
            <a:solidFill>
              <a:srgbClr val="9CA3A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209544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02736" y="1097280"/>
            <a:ext cx="365760" cy="365760"/>
          </a:xfrm>
          <a:prstGeom prst="rect">
            <a:avLst/>
          </a:prstGeom>
          <a:solidFill>
            <a:srgbClr val="E5E7EB"/>
          </a:solidFill>
          <a:ln w="15875">
            <a:solidFill>
              <a:srgbClr val="9CA3A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02736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995928" y="1097280"/>
            <a:ext cx="365760" cy="365760"/>
          </a:xfrm>
          <a:prstGeom prst="rect">
            <a:avLst/>
          </a:prstGeom>
          <a:solidFill>
            <a:srgbClr val="E5E7EB"/>
          </a:solidFill>
          <a:ln w="15875">
            <a:solidFill>
              <a:srgbClr val="9CA3A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995928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097280"/>
            <a:ext cx="365760" cy="365760"/>
          </a:xfrm>
          <a:prstGeom prst="rect">
            <a:avLst/>
          </a:prstGeom>
          <a:solidFill>
            <a:srgbClr val="E5E7EB"/>
          </a:solidFill>
          <a:ln w="15875">
            <a:solidFill>
              <a:srgbClr val="9CA3A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8912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82312" y="1097280"/>
            <a:ext cx="365760" cy="365760"/>
          </a:xfrm>
          <a:prstGeom prst="rect">
            <a:avLst/>
          </a:prstGeom>
          <a:solidFill>
            <a:srgbClr val="E5E7EB"/>
          </a:solidFill>
          <a:ln w="15875">
            <a:solidFill>
              <a:srgbClr val="9CA3A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82312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75504" y="1097280"/>
            <a:ext cx="365760" cy="365760"/>
          </a:xfrm>
          <a:prstGeom prst="rect">
            <a:avLst/>
          </a:prstGeom>
          <a:solidFill>
            <a:srgbClr val="E5E7EB"/>
          </a:solidFill>
          <a:ln w="15875">
            <a:solidFill>
              <a:srgbClr val="9CA3A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75504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568696" y="1097280"/>
            <a:ext cx="365760" cy="365760"/>
          </a:xfrm>
          <a:prstGeom prst="rect">
            <a:avLst/>
          </a:prstGeom>
          <a:solidFill>
            <a:srgbClr val="E5E7EB"/>
          </a:solidFill>
          <a:ln w="15875">
            <a:solidFill>
              <a:srgbClr val="9CA3A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568696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084832" y="1965960"/>
            <a:ext cx="365760" cy="365760"/>
          </a:xfrm>
          <a:prstGeom prst="rect">
            <a:avLst/>
          </a:prstGeom>
          <a:solidFill>
            <a:srgbClr val="E5E7EB"/>
          </a:solidFill>
          <a:ln w="15875">
            <a:solidFill>
              <a:srgbClr val="9CA3A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08483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478024" y="1965960"/>
            <a:ext cx="365760" cy="365760"/>
          </a:xfrm>
          <a:prstGeom prst="rect">
            <a:avLst/>
          </a:prstGeom>
          <a:solidFill>
            <a:srgbClr val="E5E7EB"/>
          </a:solidFill>
          <a:ln w="15875">
            <a:solidFill>
              <a:srgbClr val="9CA3A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47802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871216" y="1965960"/>
            <a:ext cx="365760" cy="365760"/>
          </a:xfrm>
          <a:prstGeom prst="rect">
            <a:avLst/>
          </a:prstGeom>
          <a:solidFill>
            <a:srgbClr val="E5E7EB"/>
          </a:solidFill>
          <a:ln w="15875">
            <a:solidFill>
              <a:srgbClr val="9CA3A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871216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64408" y="1965960"/>
            <a:ext cx="365760" cy="365760"/>
          </a:xfrm>
          <a:prstGeom prst="rect">
            <a:avLst/>
          </a:prstGeom>
          <a:solidFill>
            <a:srgbClr val="E5E7EB"/>
          </a:solidFill>
          <a:ln w="15875">
            <a:solidFill>
              <a:srgbClr val="9CA3A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264408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335024" y="2834640"/>
            <a:ext cx="365760" cy="365760"/>
          </a:xfrm>
          <a:prstGeom prst="rect">
            <a:avLst/>
          </a:prstGeom>
          <a:solidFill>
            <a:srgbClr val="E5E7EB"/>
          </a:solidFill>
          <a:ln w="15875">
            <a:solidFill>
              <a:srgbClr val="9CA3A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335024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728216" y="2834640"/>
            <a:ext cx="365760" cy="365760"/>
          </a:xfrm>
          <a:prstGeom prst="rect">
            <a:avLst/>
          </a:prstGeom>
          <a:solidFill>
            <a:srgbClr val="E5E7EB"/>
          </a:solidFill>
          <a:ln w="15875">
            <a:solidFill>
              <a:srgbClr val="9CA3A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728216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60120" y="3703320"/>
            <a:ext cx="365760" cy="365760"/>
          </a:xfrm>
          <a:prstGeom prst="rect">
            <a:avLst/>
          </a:prstGeom>
          <a:solidFill>
            <a:srgbClr val="E5E7EB"/>
          </a:solidFill>
          <a:ln w="15875">
            <a:solidFill>
              <a:srgbClr val="9CA3A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6012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103120" y="3703320"/>
            <a:ext cx="365760" cy="365760"/>
          </a:xfrm>
          <a:prstGeom prst="rect">
            <a:avLst/>
          </a:prstGeom>
          <a:solidFill>
            <a:srgbClr val="E5E7EB"/>
          </a:solidFill>
          <a:ln w="15875">
            <a:solidFill>
              <a:srgbClr val="9CA3A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10312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21024" y="2834640"/>
            <a:ext cx="365760" cy="365760"/>
          </a:xfrm>
          <a:prstGeom prst="rect">
            <a:avLst/>
          </a:prstGeom>
          <a:solidFill>
            <a:srgbClr val="E5E7EB"/>
          </a:solidFill>
          <a:ln w="15875">
            <a:solidFill>
              <a:srgbClr val="9CA3A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621024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014216" y="2834640"/>
            <a:ext cx="365760" cy="365760"/>
          </a:xfrm>
          <a:prstGeom prst="rect">
            <a:avLst/>
          </a:prstGeom>
          <a:solidFill>
            <a:srgbClr val="E5E7EB"/>
          </a:solidFill>
          <a:ln w="15875">
            <a:solidFill>
              <a:srgbClr val="9CA3A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014216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246120" y="3703320"/>
            <a:ext cx="365760" cy="365760"/>
          </a:xfrm>
          <a:prstGeom prst="rect">
            <a:avLst/>
          </a:prstGeom>
          <a:solidFill>
            <a:srgbClr val="E5E7EB"/>
          </a:solidFill>
          <a:ln w="15875">
            <a:solidFill>
              <a:srgbClr val="9CA3A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24612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389120" y="3703320"/>
            <a:ext cx="365760" cy="365760"/>
          </a:xfrm>
          <a:prstGeom prst="rect">
            <a:avLst/>
          </a:prstGeom>
          <a:solidFill>
            <a:srgbClr val="E5E7EB"/>
          </a:solidFill>
          <a:ln w="15875">
            <a:solidFill>
              <a:srgbClr val="9CA3A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38912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281928" y="1965960"/>
            <a:ext cx="365760" cy="365760"/>
          </a:xfrm>
          <a:prstGeom prst="rect">
            <a:avLst/>
          </a:prstGeom>
          <a:solidFill>
            <a:srgbClr val="E5E7EB"/>
          </a:solidFill>
          <a:ln w="15875">
            <a:solidFill>
              <a:srgbClr val="9CA3A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281928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675120" y="1965960"/>
            <a:ext cx="365760" cy="365760"/>
          </a:xfrm>
          <a:prstGeom prst="rect">
            <a:avLst/>
          </a:prstGeom>
          <a:solidFill>
            <a:srgbClr val="E5E7EB"/>
          </a:solidFill>
          <a:ln w="15875">
            <a:solidFill>
              <a:srgbClr val="9CA3A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67512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068312" y="1965960"/>
            <a:ext cx="365760" cy="365760"/>
          </a:xfrm>
          <a:prstGeom prst="rect">
            <a:avLst/>
          </a:prstGeom>
          <a:solidFill>
            <a:srgbClr val="E5E7EB"/>
          </a:solidFill>
          <a:ln w="15875">
            <a:solidFill>
              <a:srgbClr val="9CA3A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06831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907024" y="2834640"/>
            <a:ext cx="365760" cy="365760"/>
          </a:xfrm>
          <a:prstGeom prst="rect">
            <a:avLst/>
          </a:prstGeom>
          <a:solidFill>
            <a:srgbClr val="E5E7EB"/>
          </a:solidFill>
          <a:ln w="15875">
            <a:solidFill>
              <a:srgbClr val="9CA3A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907024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300216" y="2834640"/>
            <a:ext cx="365760" cy="365760"/>
          </a:xfrm>
          <a:prstGeom prst="rect">
            <a:avLst/>
          </a:prstGeom>
          <a:solidFill>
            <a:srgbClr val="E5E7EB"/>
          </a:solidFill>
          <a:ln w="15875">
            <a:solidFill>
              <a:srgbClr val="9CA3A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300216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532120" y="3703320"/>
            <a:ext cx="365760" cy="365760"/>
          </a:xfrm>
          <a:prstGeom prst="rect">
            <a:avLst/>
          </a:prstGeom>
          <a:solidFill>
            <a:srgbClr val="E5E7EB"/>
          </a:solidFill>
          <a:ln w="15875">
            <a:solidFill>
              <a:srgbClr val="9CA3A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53212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675120" y="3703320"/>
            <a:ext cx="365760" cy="365760"/>
          </a:xfrm>
          <a:prstGeom prst="rect">
            <a:avLst/>
          </a:prstGeom>
          <a:solidFill>
            <a:srgbClr val="E5E7EB"/>
          </a:solidFill>
          <a:ln w="15875">
            <a:solidFill>
              <a:srgbClr val="9CA3A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67512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7818120" y="2834640"/>
            <a:ext cx="365760" cy="365760"/>
          </a:xfrm>
          <a:prstGeom prst="rect">
            <a:avLst/>
          </a:prstGeom>
          <a:solidFill>
            <a:srgbClr val="E5E7EB"/>
          </a:solidFill>
          <a:ln w="15875">
            <a:solidFill>
              <a:srgbClr val="9CA3A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81812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 flipH="1">
            <a:off x="2857500" y="1463040"/>
            <a:ext cx="1714500" cy="50292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572000" y="1463040"/>
            <a:ext cx="2286000" cy="50292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H="1">
            <a:off x="1714500" y="2331720"/>
            <a:ext cx="1143000" cy="50292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857500" y="2331720"/>
            <a:ext cx="1143000" cy="50292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H="1">
            <a:off x="1143000" y="3200400"/>
            <a:ext cx="571500" cy="50292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714500" y="3200400"/>
            <a:ext cx="571500" cy="50292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H="1">
            <a:off x="3429000" y="3200400"/>
            <a:ext cx="571500" cy="50292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000500" y="3200400"/>
            <a:ext cx="571500" cy="50292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H="1">
            <a:off x="6286500" y="2331720"/>
            <a:ext cx="571500" cy="50292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858000" y="2331720"/>
            <a:ext cx="1143000" cy="50292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H="1">
            <a:off x="5715000" y="3200400"/>
            <a:ext cx="571500" cy="50292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286500" y="3200400"/>
            <a:ext cx="571500" cy="50292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548640" y="42245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[38, 27, 43, 3, 9, 82, 10] is split in half repeatedly until every group has one element (a single element is already sorted).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1888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Merge Phase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9544" y="1097280"/>
            <a:ext cx="365760" cy="365760"/>
          </a:xfrm>
          <a:prstGeom prst="rect">
            <a:avLst/>
          </a:prstGeom>
          <a:solidFill>
            <a:srgbClr val="A7F3D0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209544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02736" y="1097280"/>
            <a:ext cx="365760" cy="365760"/>
          </a:xfrm>
          <a:prstGeom prst="rect">
            <a:avLst/>
          </a:prstGeom>
          <a:solidFill>
            <a:srgbClr val="A7F3D0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02736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995928" y="1097280"/>
            <a:ext cx="365760" cy="365760"/>
          </a:xfrm>
          <a:prstGeom prst="rect">
            <a:avLst/>
          </a:prstGeom>
          <a:solidFill>
            <a:srgbClr val="A7F3D0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995928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097280"/>
            <a:ext cx="365760" cy="365760"/>
          </a:xfrm>
          <a:prstGeom prst="rect">
            <a:avLst/>
          </a:prstGeom>
          <a:solidFill>
            <a:srgbClr val="A7F3D0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8912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82312" y="1097280"/>
            <a:ext cx="365760" cy="365760"/>
          </a:xfrm>
          <a:prstGeom prst="rect">
            <a:avLst/>
          </a:prstGeom>
          <a:solidFill>
            <a:srgbClr val="A7F3D0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82312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75504" y="1097280"/>
            <a:ext cx="365760" cy="365760"/>
          </a:xfrm>
          <a:prstGeom prst="rect">
            <a:avLst/>
          </a:prstGeom>
          <a:solidFill>
            <a:srgbClr val="A7F3D0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75504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568696" y="1097280"/>
            <a:ext cx="365760" cy="365760"/>
          </a:xfrm>
          <a:prstGeom prst="rect">
            <a:avLst/>
          </a:prstGeom>
          <a:solidFill>
            <a:srgbClr val="A7F3D0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568696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084832" y="1965960"/>
            <a:ext cx="365760" cy="365760"/>
          </a:xfrm>
          <a:prstGeom prst="rect">
            <a:avLst/>
          </a:prstGeom>
          <a:solidFill>
            <a:srgbClr val="A7F3D0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08483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478024" y="1965960"/>
            <a:ext cx="365760" cy="365760"/>
          </a:xfrm>
          <a:prstGeom prst="rect">
            <a:avLst/>
          </a:prstGeom>
          <a:solidFill>
            <a:srgbClr val="A7F3D0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47802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871216" y="1965960"/>
            <a:ext cx="365760" cy="365760"/>
          </a:xfrm>
          <a:prstGeom prst="rect">
            <a:avLst/>
          </a:prstGeom>
          <a:solidFill>
            <a:srgbClr val="A7F3D0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871216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64408" y="1965960"/>
            <a:ext cx="365760" cy="365760"/>
          </a:xfrm>
          <a:prstGeom prst="rect">
            <a:avLst/>
          </a:prstGeom>
          <a:solidFill>
            <a:srgbClr val="A7F3D0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264408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335024" y="2834640"/>
            <a:ext cx="365760" cy="365760"/>
          </a:xfrm>
          <a:prstGeom prst="rect">
            <a:avLst/>
          </a:prstGeom>
          <a:solidFill>
            <a:srgbClr val="A7F3D0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335024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728216" y="2834640"/>
            <a:ext cx="365760" cy="365760"/>
          </a:xfrm>
          <a:prstGeom prst="rect">
            <a:avLst/>
          </a:prstGeom>
          <a:solidFill>
            <a:srgbClr val="A7F3D0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728216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60120" y="3703320"/>
            <a:ext cx="365760" cy="365760"/>
          </a:xfrm>
          <a:prstGeom prst="rect">
            <a:avLst/>
          </a:prstGeom>
          <a:solidFill>
            <a:srgbClr val="E5E7EB"/>
          </a:solidFill>
          <a:ln w="15875">
            <a:solidFill>
              <a:srgbClr val="9CA3A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6012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103120" y="3703320"/>
            <a:ext cx="365760" cy="365760"/>
          </a:xfrm>
          <a:prstGeom prst="rect">
            <a:avLst/>
          </a:prstGeom>
          <a:solidFill>
            <a:srgbClr val="E5E7EB"/>
          </a:solidFill>
          <a:ln w="15875">
            <a:solidFill>
              <a:srgbClr val="9CA3A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10312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21024" y="2834640"/>
            <a:ext cx="365760" cy="365760"/>
          </a:xfrm>
          <a:prstGeom prst="rect">
            <a:avLst/>
          </a:prstGeom>
          <a:solidFill>
            <a:srgbClr val="A7F3D0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621024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014216" y="2834640"/>
            <a:ext cx="365760" cy="365760"/>
          </a:xfrm>
          <a:prstGeom prst="rect">
            <a:avLst/>
          </a:prstGeom>
          <a:solidFill>
            <a:srgbClr val="A7F3D0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014216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246120" y="3703320"/>
            <a:ext cx="365760" cy="365760"/>
          </a:xfrm>
          <a:prstGeom prst="rect">
            <a:avLst/>
          </a:prstGeom>
          <a:solidFill>
            <a:srgbClr val="E5E7EB"/>
          </a:solidFill>
          <a:ln w="15875">
            <a:solidFill>
              <a:srgbClr val="9CA3A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24612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389120" y="3703320"/>
            <a:ext cx="365760" cy="365760"/>
          </a:xfrm>
          <a:prstGeom prst="rect">
            <a:avLst/>
          </a:prstGeom>
          <a:solidFill>
            <a:srgbClr val="E5E7EB"/>
          </a:solidFill>
          <a:ln w="15875">
            <a:solidFill>
              <a:srgbClr val="9CA3A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38912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281928" y="1965960"/>
            <a:ext cx="365760" cy="365760"/>
          </a:xfrm>
          <a:prstGeom prst="rect">
            <a:avLst/>
          </a:prstGeom>
          <a:solidFill>
            <a:srgbClr val="A7F3D0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281928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675120" y="1965960"/>
            <a:ext cx="365760" cy="365760"/>
          </a:xfrm>
          <a:prstGeom prst="rect">
            <a:avLst/>
          </a:prstGeom>
          <a:solidFill>
            <a:srgbClr val="A7F3D0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67512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068312" y="1965960"/>
            <a:ext cx="365760" cy="365760"/>
          </a:xfrm>
          <a:prstGeom prst="rect">
            <a:avLst/>
          </a:prstGeom>
          <a:solidFill>
            <a:srgbClr val="A7F3D0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06831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907024" y="2834640"/>
            <a:ext cx="365760" cy="365760"/>
          </a:xfrm>
          <a:prstGeom prst="rect">
            <a:avLst/>
          </a:prstGeom>
          <a:solidFill>
            <a:srgbClr val="A7F3D0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907024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300216" y="2834640"/>
            <a:ext cx="365760" cy="365760"/>
          </a:xfrm>
          <a:prstGeom prst="rect">
            <a:avLst/>
          </a:prstGeom>
          <a:solidFill>
            <a:srgbClr val="A7F3D0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300216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532120" y="3703320"/>
            <a:ext cx="365760" cy="365760"/>
          </a:xfrm>
          <a:prstGeom prst="rect">
            <a:avLst/>
          </a:prstGeom>
          <a:solidFill>
            <a:srgbClr val="E5E7EB"/>
          </a:solidFill>
          <a:ln w="15875">
            <a:solidFill>
              <a:srgbClr val="9CA3A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53212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675120" y="3703320"/>
            <a:ext cx="365760" cy="365760"/>
          </a:xfrm>
          <a:prstGeom prst="rect">
            <a:avLst/>
          </a:prstGeom>
          <a:solidFill>
            <a:srgbClr val="E5E7EB"/>
          </a:solidFill>
          <a:ln w="15875">
            <a:solidFill>
              <a:srgbClr val="9CA3A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67512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7818120" y="2834640"/>
            <a:ext cx="365760" cy="365760"/>
          </a:xfrm>
          <a:prstGeom prst="rect">
            <a:avLst/>
          </a:prstGeom>
          <a:solidFill>
            <a:srgbClr val="E5E7EB"/>
          </a:solidFill>
          <a:ln w="15875">
            <a:solidFill>
              <a:srgbClr val="9CA3A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81812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 flipH="1">
            <a:off x="2857500" y="1463040"/>
            <a:ext cx="1714500" cy="50292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572000" y="1463040"/>
            <a:ext cx="2286000" cy="50292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H="1">
            <a:off x="1714500" y="2331720"/>
            <a:ext cx="1143000" cy="50292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857500" y="2331720"/>
            <a:ext cx="1143000" cy="50292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H="1">
            <a:off x="1143000" y="3200400"/>
            <a:ext cx="571500" cy="50292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714500" y="3200400"/>
            <a:ext cx="571500" cy="50292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H="1">
            <a:off x="3429000" y="3200400"/>
            <a:ext cx="571500" cy="50292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000500" y="3200400"/>
            <a:ext cx="571500" cy="50292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H="1">
            <a:off x="6286500" y="2331720"/>
            <a:ext cx="571500" cy="50292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858000" y="2331720"/>
            <a:ext cx="1143000" cy="50292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H="1">
            <a:off x="5715000" y="3200400"/>
            <a:ext cx="571500" cy="50292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286500" y="3200400"/>
            <a:ext cx="571500" cy="50292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548640" y="42245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groups are merged bottom-up. Final result: [3, 9, 10, 27, 38, 43, 82]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1888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Analysis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51560"/>
          <a:ext cx="48463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32120" y="1097280"/>
          <a:ext cx="315468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7373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Sort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532120" y="3337560"/>
            <a:ext cx="3154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5532120" y="3337560"/>
            <a:ext cx="31546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715000" y="34747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5715000" y="37490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T(n) = 2T(n/2) + O(n)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5715000" y="41148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Theorem: T(n) = O(n log n)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1888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Other Sorting Algorithms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371600"/>
                <a:gridCol w="1371600"/>
                <a:gridCol w="1371600"/>
                <a:gridCol w="1097280"/>
                <a:gridCol w="10972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Sort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Sort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Heap Sort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Bubble Sort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is the only one here that is both stable and guaranteed O(n log n), at the cost of O(n) extra memory.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1888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Advantages, Limitations and Applications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06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260604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20240"/>
            <a:ext cx="219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O(n log n)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sorting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Parallelises well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46120" y="1143000"/>
            <a:ext cx="2606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143000"/>
            <a:ext cx="26060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920240"/>
            <a:ext cx="219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O(n) extra space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than quicksort on small arrays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overhead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35040" y="1143000"/>
            <a:ext cx="2606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143000"/>
            <a:ext cx="2606040" cy="64008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920240"/>
            <a:ext cx="219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linked lists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sorting of huge files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inversions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of Timsort (Python, Java)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1888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371600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the array into two halves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Recursively sort each half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the sorted halves in linear time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O(n log n) time, stable, O(n) space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274320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429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931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Mohiddin Khan  |  PRN: 25070521250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2976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Cormen, Leiserson, Rivest, Stein - Introduction to Algorithms (CLRS)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6177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Claude (Anthropic AI)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Merge Sort - Divide and Conquer</dc:title>
  <dc:subject>PptxGenJS Presentation</dc:subject>
  <dc:creator>Mohiddin Khan</dc:creator>
  <cp:lastModifiedBy>Mohiddin Khan</cp:lastModifiedBy>
  <cp:revision>1</cp:revision>
  <dcterms:created xsi:type="dcterms:W3CDTF">2026-10-20T15:09:23Z</dcterms:created>
  <dcterms:modified xsi:type="dcterms:W3CDTF">2026-10-20T15:09:23Z</dcterms:modified>
</cp:coreProperties>
</file>